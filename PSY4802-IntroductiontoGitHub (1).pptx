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25"/>
  </p:notesMasterIdLst>
  <p:sldIdLst>
    <p:sldId id="268" r:id="rId2"/>
    <p:sldId id="269" r:id="rId3"/>
    <p:sldId id="276" r:id="rId4"/>
    <p:sldId id="281" r:id="rId5"/>
    <p:sldId id="283" r:id="rId6"/>
    <p:sldId id="284" r:id="rId7"/>
    <p:sldId id="285" r:id="rId8"/>
    <p:sldId id="286" r:id="rId9"/>
    <p:sldId id="277" r:id="rId10"/>
    <p:sldId id="278" r:id="rId11"/>
    <p:sldId id="279" r:id="rId12"/>
    <p:sldId id="280" r:id="rId13"/>
    <p:sldId id="256" r:id="rId14"/>
    <p:sldId id="257" r:id="rId15"/>
    <p:sldId id="258" r:id="rId16"/>
    <p:sldId id="259" r:id="rId17"/>
    <p:sldId id="261" r:id="rId18"/>
    <p:sldId id="262" r:id="rId19"/>
    <p:sldId id="264" r:id="rId20"/>
    <p:sldId id="266" r:id="rId21"/>
    <p:sldId id="265" r:id="rId22"/>
    <p:sldId id="267" r:id="rId23"/>
    <p:sldId id="26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58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06"/>
    <p:restoredTop sz="96327"/>
  </p:normalViewPr>
  <p:slideViewPr>
    <p:cSldViewPr snapToGrid="0" snapToObjects="1">
      <p:cViewPr varScale="1">
        <p:scale>
          <a:sx n="106" d="100"/>
          <a:sy n="106" d="100"/>
        </p:scale>
        <p:origin x="184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4A121-E0DD-944E-95DA-6CADBF3CE37A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2CD09-0798-D94F-BC06-1BD9D4AC8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8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669393-E920-544E-AB13-6C9F8BCEE4F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23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8804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800"/>
            </a:lvl1pPr>
            <a:lvl2pPr>
              <a:defRPr sz="2800"/>
            </a:lvl2pPr>
            <a:lvl3pPr marL="731520" indent="-457200">
              <a:buFont typeface="Arial" panose="020B0604020202020204" pitchFamily="34" charset="0"/>
              <a:buChar char="•"/>
              <a:defRPr sz="2800"/>
            </a:lvl3pPr>
            <a:lvl4pPr>
              <a:defRPr sz="2800"/>
            </a:lvl4pPr>
            <a:lvl5pPr marL="1005840" indent="-457200">
              <a:buFont typeface="Arial" panose="020B0604020202020204" pitchFamily="34" charset="0"/>
              <a:buChar char="•"/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74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2950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800"/>
            </a:lvl1pPr>
            <a:lvl2pPr>
              <a:defRPr sz="2800"/>
            </a:lvl2pPr>
            <a:lvl3pPr marL="731520" indent="-457200">
              <a:buFont typeface="Arial" panose="020B0604020202020204" pitchFamily="34" charset="0"/>
              <a:buChar char="•"/>
              <a:defRPr sz="2800"/>
            </a:lvl3pPr>
            <a:lvl4pPr>
              <a:defRPr sz="2800"/>
            </a:lvl4pPr>
            <a:lvl5pPr marL="1005840" indent="-457200">
              <a:buFont typeface="Arial" panose="020B0604020202020204" pitchFamily="34" charset="0"/>
              <a:buChar char="•"/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800"/>
            </a:lvl1pPr>
            <a:lvl2pPr>
              <a:defRPr sz="2800"/>
            </a:lvl2pPr>
            <a:lvl3pPr marL="731520" indent="-457200">
              <a:buFont typeface="Arial" panose="020B0604020202020204" pitchFamily="34" charset="0"/>
              <a:buChar char="•"/>
              <a:defRPr sz="2800"/>
            </a:lvl3pPr>
            <a:lvl4pPr>
              <a:defRPr sz="2800"/>
            </a:lvl4pPr>
            <a:lvl5pPr marL="1005840" indent="-457200">
              <a:buFont typeface="Arial" panose="020B0604020202020204" pitchFamily="34" charset="0"/>
              <a:buChar char="•"/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5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Autofit/>
          </a:bodyPr>
          <a:lstStyle>
            <a:lvl1pPr marL="0" indent="0">
              <a:buNone/>
              <a:defRPr sz="3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Autofit/>
          </a:bodyPr>
          <a:lstStyle>
            <a:lvl1pPr marL="0" indent="0">
              <a:buNone/>
              <a:defRPr sz="3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81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90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13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5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6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37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97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327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jnavarro" TargetMode="External"/><Relationship Id="rId2" Type="http://schemas.openxmlformats.org/officeDocument/2006/relationships/hyperlink" Target="https://github.com/weeeBox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mdsteiner" TargetMode="External"/><Relationship Id="rId4" Type="http://schemas.openxmlformats.org/officeDocument/2006/relationships/hyperlink" Target="https://github.com/neuropsychology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B4E60-EB72-FFE0-6A94-548971C87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E0ED3-C68F-3862-DA0B-E9A51204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05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D8EACB7-D372-470B-B76E-A829D0031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96CFC7C2-1069-F670-0005-89F386265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929" b="194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FDCD62BB-F134-412E-AF5B-602B0445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50337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0C3C53-8A49-7035-23BA-C30C695CF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561" y="1066800"/>
            <a:ext cx="3931320" cy="2267193"/>
          </a:xfrm>
        </p:spPr>
        <p:txBody>
          <a:bodyPr>
            <a:normAutofit/>
          </a:bodyPr>
          <a:lstStyle/>
          <a:p>
            <a:r>
              <a:rPr lang="en-US" dirty="0"/>
              <a:t>Intro to Open Science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3604DBA-AB3F-AC45-505A-DF449AC99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8561" y="4327781"/>
            <a:ext cx="3931321" cy="1033669"/>
          </a:xfrm>
        </p:spPr>
        <p:txBody>
          <a:bodyPr>
            <a:normAutofit/>
          </a:bodyPr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1732D3A-CFF0-45BE-AD79-F83D0272C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0479" y="3871114"/>
            <a:ext cx="867485" cy="115439"/>
            <a:chOff x="8910933" y="1861308"/>
            <a:chExt cx="867485" cy="11543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892F72C-7FB6-49C8-A402-D5DC42DB6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C92C2E1-605F-49BD-8AC8-DC52B3015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8BE2E0F-EE6D-4748-AB8F-724D0DDC6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9750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8C249-7798-AA4B-90DD-C1C44E5AD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Open Science?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6FA14-5C62-C44B-ADBE-75C611654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No one definition</a:t>
            </a:r>
          </a:p>
          <a:p>
            <a:r>
              <a:rPr lang="en-US" sz="2800" dirty="0"/>
              <a:t>Practices that increase transparency and accessibility of research  </a:t>
            </a:r>
          </a:p>
        </p:txBody>
      </p:sp>
    </p:spTree>
    <p:extLst>
      <p:ext uri="{BB962C8B-B14F-4D97-AF65-F5344CB8AC3E}">
        <p14:creationId xmlns:p14="http://schemas.microsoft.com/office/powerpoint/2010/main" val="4192839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0F4AF-6F8D-97D6-0F0D-30D44F86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Open Science?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678D7-9E5D-1856-A5D8-8773CE09C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121" y="2161902"/>
            <a:ext cx="5125451" cy="426526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Concerned about credibility of psychology studies </a:t>
            </a:r>
          </a:p>
          <a:p>
            <a:pPr lvl="1"/>
            <a:r>
              <a:rPr lang="en-US" dirty="0"/>
              <a:t>Why?</a:t>
            </a:r>
          </a:p>
          <a:p>
            <a:pPr lvl="2"/>
            <a:r>
              <a:rPr lang="en-US" dirty="0"/>
              <a:t>Fabrication (small subset)</a:t>
            </a:r>
          </a:p>
          <a:p>
            <a:pPr lvl="2"/>
            <a:r>
              <a:rPr lang="en-US" dirty="0"/>
              <a:t>Failure to replicate</a:t>
            </a:r>
          </a:p>
          <a:p>
            <a:pPr lvl="2"/>
            <a:r>
              <a:rPr lang="en-US" dirty="0"/>
              <a:t>Type I errors </a:t>
            </a:r>
          </a:p>
          <a:p>
            <a:pPr lvl="2"/>
            <a:r>
              <a:rPr lang="en-US" dirty="0"/>
              <a:t>Small Sample Sizes</a:t>
            </a:r>
          </a:p>
          <a:p>
            <a:pPr lvl="2"/>
            <a:r>
              <a:rPr lang="en-US" dirty="0"/>
              <a:t>Generalizability</a:t>
            </a:r>
          </a:p>
          <a:p>
            <a:pPr lvl="2"/>
            <a:r>
              <a:rPr lang="en-US" dirty="0"/>
              <a:t>Questionable Research Practices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pic>
        <p:nvPicPr>
          <p:cNvPr id="4" name="Picture 2" descr="Is the replication crisis in Psychology real? – The Neuroeconomist">
            <a:extLst>
              <a:ext uri="{FF2B5EF4-FFF2-40B4-BE49-F238E27FC236}">
                <a16:creationId xmlns:a16="http://schemas.microsoft.com/office/drawing/2014/main" id="{750E950A-E917-152D-A40F-0B5F5D067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572" y="2048484"/>
            <a:ext cx="6348307" cy="4265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946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F4309-71E3-AE0A-9623-57417394C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Leads to questionable Research Practices?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B6ACAC-74B2-CFF0-84EB-919354B1DC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Journals</a:t>
            </a:r>
          </a:p>
          <a:p>
            <a:pPr lvl="1"/>
            <a:r>
              <a:rPr lang="en-US" sz="2800" dirty="0"/>
              <a:t>Want to only publish cool/interesting things </a:t>
            </a:r>
          </a:p>
          <a:p>
            <a:pPr lvl="1"/>
            <a:r>
              <a:rPr lang="en-US" sz="2800" dirty="0"/>
              <a:t>Don’t want to publish null results (no finding) </a:t>
            </a:r>
          </a:p>
          <a:p>
            <a:pPr lvl="2"/>
            <a:r>
              <a:rPr lang="en-US" sz="2800" dirty="0"/>
              <a:t>BORING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530BA5-3915-5050-3131-E27B5A5E59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Researchers</a:t>
            </a:r>
          </a:p>
          <a:p>
            <a:pPr lvl="1"/>
            <a:r>
              <a:rPr lang="en-US" sz="2800" dirty="0"/>
              <a:t>Want to publish</a:t>
            </a:r>
          </a:p>
          <a:p>
            <a:pPr lvl="1"/>
            <a:r>
              <a:rPr lang="en-US" sz="2800" dirty="0"/>
              <a:t>Helps them get to the next step (grad school, post doc, professor, tenure)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2" descr="Lesson Video: Tension Forces | Nagwa">
            <a:extLst>
              <a:ext uri="{FF2B5EF4-FFF2-40B4-BE49-F238E27FC236}">
                <a16:creationId xmlns:a16="http://schemas.microsoft.com/office/drawing/2014/main" id="{9C02F786-77C4-D3B1-FF4C-997FDF32B6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40" b="22985"/>
          <a:stretch/>
        </p:blipFill>
        <p:spPr bwMode="auto">
          <a:xfrm>
            <a:off x="3513805" y="5091688"/>
            <a:ext cx="6044148" cy="176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363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4116190-FA23-631A-6BEA-31556DEF2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questionable research practices? #2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99FE3E-2065-CE5E-CD0B-B4F58EFE9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2161903"/>
            <a:ext cx="4565984" cy="396934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Not differentiating between Exploratory vs Confirmatory Research </a:t>
            </a:r>
          </a:p>
          <a:p>
            <a:pPr lvl="1"/>
            <a:r>
              <a:rPr lang="en-US" dirty="0"/>
              <a:t>Exploratory - No Theory</a:t>
            </a:r>
          </a:p>
          <a:p>
            <a:pPr lvl="1"/>
            <a:r>
              <a:rPr lang="en-US" dirty="0"/>
              <a:t>Confirmatory - Theory Driven</a:t>
            </a:r>
          </a:p>
          <a:p>
            <a:pPr lvl="1"/>
            <a:r>
              <a:rPr lang="en-US" dirty="0"/>
              <a:t>Both are ok- need to identify which one </a:t>
            </a:r>
          </a:p>
          <a:p>
            <a:endParaRPr lang="en-US" dirty="0"/>
          </a:p>
        </p:txBody>
      </p:sp>
      <p:pic>
        <p:nvPicPr>
          <p:cNvPr id="7" name="Picture 2" descr="a picture depicting the difference between confirmatory and exploratory hypotheses ">
            <a:extLst>
              <a:ext uri="{FF2B5EF4-FFF2-40B4-BE49-F238E27FC236}">
                <a16:creationId xmlns:a16="http://schemas.microsoft.com/office/drawing/2014/main" id="{D1942CC7-72FB-4E61-F80A-58879D712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368" y="2401957"/>
            <a:ext cx="6096000" cy="324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94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34609-1A26-CC43-9298-074972F6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Questionable Research Practices? #3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E9F5A19-BDCF-E245-B263-1CCAC3C46669}"/>
              </a:ext>
            </a:extLst>
          </p:cNvPr>
          <p:cNvSpPr/>
          <p:nvPr/>
        </p:nvSpPr>
        <p:spPr>
          <a:xfrm>
            <a:off x="468630" y="2960371"/>
            <a:ext cx="2045970" cy="1908810"/>
          </a:xfrm>
          <a:prstGeom prst="ellipse">
            <a:avLst/>
          </a:prstGeom>
          <a:solidFill>
            <a:srgbClr val="1058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P= 0.03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16DDBD-44A6-3741-82A6-A922FB0638B4}"/>
              </a:ext>
            </a:extLst>
          </p:cNvPr>
          <p:cNvSpPr/>
          <p:nvPr/>
        </p:nvSpPr>
        <p:spPr>
          <a:xfrm>
            <a:off x="3444240" y="2960371"/>
            <a:ext cx="2045970" cy="1908810"/>
          </a:xfrm>
          <a:prstGeom prst="ellipse">
            <a:avLst/>
          </a:prstGeom>
          <a:solidFill>
            <a:srgbClr val="1058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P= 0.055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480B465-2E5D-7244-A972-CCDC399F057A}"/>
              </a:ext>
            </a:extLst>
          </p:cNvPr>
          <p:cNvSpPr/>
          <p:nvPr/>
        </p:nvSpPr>
        <p:spPr>
          <a:xfrm>
            <a:off x="6419850" y="2891791"/>
            <a:ext cx="2045970" cy="1908810"/>
          </a:xfrm>
          <a:prstGeom prst="ellipse">
            <a:avLst/>
          </a:prstGeom>
          <a:solidFill>
            <a:srgbClr val="1058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P= 0.06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BCB106-C4E2-3A44-B9C2-C5B422301112}"/>
              </a:ext>
            </a:extLst>
          </p:cNvPr>
          <p:cNvSpPr/>
          <p:nvPr/>
        </p:nvSpPr>
        <p:spPr>
          <a:xfrm>
            <a:off x="9201150" y="2960371"/>
            <a:ext cx="2045970" cy="1908810"/>
          </a:xfrm>
          <a:prstGeom prst="ellipse">
            <a:avLst/>
          </a:prstGeom>
          <a:solidFill>
            <a:srgbClr val="1058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P= 0.96</a:t>
            </a:r>
          </a:p>
        </p:txBody>
      </p:sp>
    </p:spTree>
    <p:extLst>
      <p:ext uri="{BB962C8B-B14F-4D97-AF65-F5344CB8AC3E}">
        <p14:creationId xmlns:p14="http://schemas.microsoft.com/office/powerpoint/2010/main" val="135598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10370-0ED8-D449-8E50-8919FD01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Questionable Research Practices? #4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5D04-CE80-D647-9C97-1D9F9B055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 hacking</a:t>
            </a:r>
          </a:p>
          <a:p>
            <a:r>
              <a:rPr lang="en-US" dirty="0" err="1"/>
              <a:t>HARKing</a:t>
            </a:r>
            <a:endParaRPr lang="en-US" dirty="0"/>
          </a:p>
        </p:txBody>
      </p:sp>
      <p:pic>
        <p:nvPicPr>
          <p:cNvPr id="6146" name="Picture 2" descr="P-hacking: Common mistakes and how to avoid them | by Fernando Duarte  Salhani | GetNinjas">
            <a:extLst>
              <a:ext uri="{FF2B5EF4-FFF2-40B4-BE49-F238E27FC236}">
                <a16:creationId xmlns:a16="http://schemas.microsoft.com/office/drawing/2014/main" id="{102014DF-BC09-D040-8AB9-C45405220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93079"/>
            <a:ext cx="4592638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-hacking explained. Today, in this golden age of being… | by Kolamanvitha  | Nerd For Tech | Medium">
            <a:extLst>
              <a:ext uri="{FF2B5EF4-FFF2-40B4-BE49-F238E27FC236}">
                <a16:creationId xmlns:a16="http://schemas.microsoft.com/office/drawing/2014/main" id="{60473A78-BAEB-5547-A182-33E867351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4693" y="2183131"/>
            <a:ext cx="4202613" cy="433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indsight is 2020. How'd you do? - Association Management">
            <a:extLst>
              <a:ext uri="{FF2B5EF4-FFF2-40B4-BE49-F238E27FC236}">
                <a16:creationId xmlns:a16="http://schemas.microsoft.com/office/drawing/2014/main" id="{E843EA56-38F6-F94D-AB60-E507C18B3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927" y="2990851"/>
            <a:ext cx="39243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24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A7E41-21D9-BF45-ADA6-E8F210293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Related to Open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46E39-C5B7-3646-914A-A135030A9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54103"/>
            <a:ext cx="6059215" cy="3918098"/>
          </a:xfrm>
        </p:spPr>
        <p:txBody>
          <a:bodyPr>
            <a:normAutofit/>
          </a:bodyPr>
          <a:lstStyle/>
          <a:p>
            <a:r>
              <a:rPr lang="en-US" sz="2800" dirty="0"/>
              <a:t>Transparent Research</a:t>
            </a:r>
          </a:p>
          <a:p>
            <a:pPr lvl="1"/>
            <a:r>
              <a:rPr lang="en-US" sz="2400" dirty="0"/>
              <a:t>Can I figure out what you did?</a:t>
            </a:r>
          </a:p>
          <a:p>
            <a:r>
              <a:rPr lang="en-US" sz="2800" dirty="0"/>
              <a:t>Reproducibility</a:t>
            </a:r>
          </a:p>
          <a:p>
            <a:pPr lvl="1"/>
            <a:r>
              <a:rPr lang="en-US" sz="2400" dirty="0"/>
              <a:t>Can I redo *exactly* what you did with your data?</a:t>
            </a:r>
          </a:p>
          <a:p>
            <a:r>
              <a:rPr lang="en-US" sz="2800" dirty="0"/>
              <a:t>Replicability</a:t>
            </a:r>
          </a:p>
          <a:p>
            <a:pPr lvl="1"/>
            <a:r>
              <a:rPr lang="en-US" sz="2400" dirty="0"/>
              <a:t>Do I get the same results if I redo your study? 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11266" name="Picture 2" descr="Research Vector Icon Isolated On Transparent Background, Research Logo  Concept Royalty Free Cliparts, Vectors, And Stock Illustration. Image  109059638.">
            <a:extLst>
              <a:ext uri="{FF2B5EF4-FFF2-40B4-BE49-F238E27FC236}">
                <a16:creationId xmlns:a16="http://schemas.microsoft.com/office/drawing/2014/main" id="{751BC4E2-499D-BA43-A120-A93A7725C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392235"/>
            <a:ext cx="3641834" cy="3641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478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C5B8F-F849-134E-99FD-289F55DE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Open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523F5-C3D3-7C4F-ACAB-E06278A81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Preregistration </a:t>
            </a:r>
          </a:p>
        </p:txBody>
      </p:sp>
      <p:pic>
        <p:nvPicPr>
          <p:cNvPr id="14338" name="Picture 2" descr="OSF Guides">
            <a:extLst>
              <a:ext uri="{FF2B5EF4-FFF2-40B4-BE49-F238E27FC236}">
                <a16:creationId xmlns:a16="http://schemas.microsoft.com/office/drawing/2014/main" id="{4AB8A240-4B7E-BD47-90BF-56DB560BB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3036176"/>
            <a:ext cx="46609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811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5BD2F-293E-FA44-B665-D7E3CB5DC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Open Science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48A12-6DDD-5944-BBDA-C2575FB7D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and Code Sharing </a:t>
            </a:r>
          </a:p>
        </p:txBody>
      </p:sp>
      <p:pic>
        <p:nvPicPr>
          <p:cNvPr id="13314" name="Picture 2" descr="HOW TO GET STARTED WITH GITHUB(OPEN SOURCE)? | by Srimathi Jagadeesan |  hackgenius | Medium">
            <a:extLst>
              <a:ext uri="{FF2B5EF4-FFF2-40B4-BE49-F238E27FC236}">
                <a16:creationId xmlns:a16="http://schemas.microsoft.com/office/drawing/2014/main" id="{D4B59D18-6575-194E-B1CD-842B6BA2D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341" y="2473653"/>
            <a:ext cx="3835400" cy="212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7754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A8EDE-FE2B-DC48-B788-3BAA97F4D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Open Science #3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10D40-E973-654F-85B8-4689D6885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Access</a:t>
            </a:r>
          </a:p>
        </p:txBody>
      </p:sp>
      <p:pic>
        <p:nvPicPr>
          <p:cNvPr id="12290" name="Picture 2" descr="What is open access?">
            <a:extLst>
              <a:ext uri="{FF2B5EF4-FFF2-40B4-BE49-F238E27FC236}">
                <a16:creationId xmlns:a16="http://schemas.microsoft.com/office/drawing/2014/main" id="{3B102142-2879-B54E-944D-5F5936784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336" y="2148928"/>
            <a:ext cx="4508500" cy="180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PsyArXiv Preprints | Video game play is positively correlated with  well-being">
            <a:extLst>
              <a:ext uri="{FF2B5EF4-FFF2-40B4-BE49-F238E27FC236}">
                <a16:creationId xmlns:a16="http://schemas.microsoft.com/office/drawing/2014/main" id="{1F17C0E8-D26F-EC4E-B26D-7633003E7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520" y="3550088"/>
            <a:ext cx="3937000" cy="207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383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DD8EACB7-D372-470B-B76E-A829D0031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3">
            <a:extLst>
              <a:ext uri="{FF2B5EF4-FFF2-40B4-BE49-F238E27FC236}">
                <a16:creationId xmlns:a16="http://schemas.microsoft.com/office/drawing/2014/main" id="{36B81152-BA20-4DDB-9003-1291F3DC7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923" b="1947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1" name="Rectangle 5">
            <a:extLst>
              <a:ext uri="{FF2B5EF4-FFF2-40B4-BE49-F238E27FC236}">
                <a16:creationId xmlns:a16="http://schemas.microsoft.com/office/drawing/2014/main" id="{FBE11A49-02A1-4D4C-9A49-CDF496B10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23900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44651-96FF-564A-B091-50310D82D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561" y="1066800"/>
            <a:ext cx="3931320" cy="2267193"/>
          </a:xfrm>
        </p:spPr>
        <p:txBody>
          <a:bodyPr>
            <a:normAutofit/>
          </a:bodyPr>
          <a:lstStyle/>
          <a:p>
            <a:r>
              <a:rPr lang="en-US"/>
              <a:t>Introduction to GitHub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09776-1396-3B4A-A8FF-AE86CE0A6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8561" y="4327781"/>
            <a:ext cx="3931321" cy="1033669"/>
          </a:xfrm>
        </p:spPr>
        <p:txBody>
          <a:bodyPr>
            <a:normAutofit/>
          </a:bodyPr>
          <a:lstStyle/>
          <a:p>
            <a:r>
              <a:rPr lang="en-US" dirty="0"/>
              <a:t>Dr. Amanda Woodward</a:t>
            </a:r>
          </a:p>
        </p:txBody>
      </p:sp>
      <p:grpSp>
        <p:nvGrpSpPr>
          <p:cNvPr id="22" name="Group 12">
            <a:extLst>
              <a:ext uri="{FF2B5EF4-FFF2-40B4-BE49-F238E27FC236}">
                <a16:creationId xmlns:a16="http://schemas.microsoft.com/office/drawing/2014/main" id="{F1732D3A-CFF0-45BE-AD79-F83D0272C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0479" y="3871114"/>
            <a:ext cx="867485" cy="115439"/>
            <a:chOff x="8910933" y="1861308"/>
            <a:chExt cx="867485" cy="11543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892F72C-7FB6-49C8-A402-D5DC42DB6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14">
              <a:extLst>
                <a:ext uri="{FF2B5EF4-FFF2-40B4-BE49-F238E27FC236}">
                  <a16:creationId xmlns:a16="http://schemas.microsoft.com/office/drawing/2014/main" id="{FC92C2E1-605F-49BD-8AC8-DC52B3015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8BE2E0F-EE6D-4748-AB8F-724D0DDC6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51217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B0A8-F96C-9D42-A749-2C5B14B27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AC24A-5E7D-B449-B4FD-BB0A90EB4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the end of this class, students should be able to: </a:t>
            </a:r>
          </a:p>
          <a:p>
            <a:pPr lvl="2"/>
            <a:r>
              <a:rPr lang="en-US" dirty="0"/>
              <a:t>Explain what </a:t>
            </a:r>
            <a:r>
              <a:rPr lang="en-US" dirty="0" err="1"/>
              <a:t>Github</a:t>
            </a:r>
            <a:r>
              <a:rPr lang="en-US" dirty="0"/>
              <a:t> is and how it relates to open science</a:t>
            </a:r>
          </a:p>
          <a:p>
            <a:pPr lvl="2"/>
            <a:r>
              <a:rPr lang="en-US" dirty="0"/>
              <a:t>Identify common actions in </a:t>
            </a:r>
            <a:r>
              <a:rPr lang="en-US" dirty="0" err="1"/>
              <a:t>Github</a:t>
            </a:r>
            <a:r>
              <a:rPr lang="en-US" dirty="0"/>
              <a:t> and explain what they mean</a:t>
            </a:r>
          </a:p>
          <a:p>
            <a:pPr lvl="2"/>
            <a:r>
              <a:rPr lang="en-US" dirty="0"/>
              <a:t>Articulate how </a:t>
            </a:r>
            <a:r>
              <a:rPr lang="en-US" dirty="0" err="1"/>
              <a:t>Github</a:t>
            </a:r>
            <a:r>
              <a:rPr lang="en-US" dirty="0"/>
              <a:t> can be integrated with R/R Studio </a:t>
            </a:r>
          </a:p>
          <a:p>
            <a:pPr lvl="2"/>
            <a:r>
              <a:rPr lang="en-US" dirty="0"/>
              <a:t>Apply these concepts to work on </a:t>
            </a:r>
            <a:r>
              <a:rPr lang="en-US" dirty="0" err="1"/>
              <a:t>Github</a:t>
            </a:r>
            <a:r>
              <a:rPr lang="en-US" dirty="0"/>
              <a:t> files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445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HD Comics on Twitter: &amp;quot;Final.doc… &amp;quot;">
            <a:extLst>
              <a:ext uri="{FF2B5EF4-FFF2-40B4-BE49-F238E27FC236}">
                <a16:creationId xmlns:a16="http://schemas.microsoft.com/office/drawing/2014/main" id="{ACF3BA17-F5F7-8B4C-BB6E-39D98DB27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610" y="2624667"/>
            <a:ext cx="3244409" cy="4143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GitHub (@github) | Twitter">
            <a:extLst>
              <a:ext uri="{FF2B5EF4-FFF2-40B4-BE49-F238E27FC236}">
                <a16:creationId xmlns:a16="http://schemas.microsoft.com/office/drawing/2014/main" id="{5DCC87B9-0738-9746-B921-1A3D859A2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300" y="2714978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920F55-0A83-1D4F-B820-37E40E8B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GitHub?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1FBFE-7F24-344E-B54B-E9F928B54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Hosting service to help with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2758302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499C2-C7AC-994C-81CB-77CA7928B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GitHub?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4D60F-9613-4A40-9C15-E988FB9F7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2161903"/>
            <a:ext cx="5778500" cy="3969342"/>
          </a:xfrm>
        </p:spPr>
        <p:txBody>
          <a:bodyPr/>
          <a:lstStyle/>
          <a:p>
            <a:r>
              <a:rPr lang="en-US" dirty="0"/>
              <a:t>Hosting service to help with version control</a:t>
            </a:r>
          </a:p>
          <a:p>
            <a:r>
              <a:rPr lang="en-US" dirty="0"/>
              <a:t>Repository  (storage)</a:t>
            </a:r>
          </a:p>
          <a:p>
            <a:pPr lvl="2"/>
            <a:r>
              <a:rPr lang="en-US" dirty="0"/>
              <a:t>Store code on cloud</a:t>
            </a:r>
          </a:p>
          <a:p>
            <a:pPr lvl="2"/>
            <a:r>
              <a:rPr lang="en-US" dirty="0"/>
              <a:t>Free options</a:t>
            </a:r>
          </a:p>
          <a:p>
            <a:r>
              <a:rPr lang="en-US" dirty="0"/>
              <a:t>Multiple people can work on same project</a:t>
            </a:r>
          </a:p>
        </p:txBody>
      </p:sp>
      <p:pic>
        <p:nvPicPr>
          <p:cNvPr id="2050" name="Picture 2" descr="Git Repository | W3Docs Git Online Tutorial">
            <a:extLst>
              <a:ext uri="{FF2B5EF4-FFF2-40B4-BE49-F238E27FC236}">
                <a16:creationId xmlns:a16="http://schemas.microsoft.com/office/drawing/2014/main" id="{BF73879C-FF58-1241-AAED-B5D4CDBC2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067" y="2575245"/>
            <a:ext cx="5334000" cy="35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746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31AEF-A2DD-C240-AF63-E056EAB55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GitHub?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598E3-E8B6-C144-8A38-000F4B410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FREE! (at least some options)</a:t>
            </a:r>
          </a:p>
          <a:p>
            <a:r>
              <a:rPr lang="en-US" dirty="0"/>
              <a:t>Facilitates cooperation among researchers </a:t>
            </a:r>
          </a:p>
          <a:p>
            <a:pPr lvl="2"/>
            <a:r>
              <a:rPr lang="en-US" dirty="0"/>
              <a:t>Easy to share code </a:t>
            </a:r>
          </a:p>
          <a:p>
            <a:pPr lvl="2"/>
            <a:r>
              <a:rPr lang="en-US" dirty="0"/>
              <a:t>Easy to collaborate </a:t>
            </a:r>
          </a:p>
          <a:p>
            <a:pPr lvl="2"/>
            <a:r>
              <a:rPr lang="en-US" dirty="0"/>
              <a:t>Facilitate open source projects</a:t>
            </a:r>
          </a:p>
          <a:p>
            <a:pPr lvl="2"/>
            <a:r>
              <a:rPr lang="en-US" dirty="0"/>
              <a:t>Open source</a:t>
            </a:r>
          </a:p>
          <a:p>
            <a:pPr lvl="4"/>
            <a:r>
              <a:rPr lang="en-US" dirty="0"/>
              <a:t>Freely available, modifiable</a:t>
            </a:r>
          </a:p>
          <a:p>
            <a:endParaRPr lang="en-US" dirty="0"/>
          </a:p>
        </p:txBody>
      </p:sp>
      <p:pic>
        <p:nvPicPr>
          <p:cNvPr id="3074" name="Picture 2" descr="Top 20 programming languages for open-source projects in 2020 - Tridens  Technology">
            <a:extLst>
              <a:ext uri="{FF2B5EF4-FFF2-40B4-BE49-F238E27FC236}">
                <a16:creationId xmlns:a16="http://schemas.microsoft.com/office/drawing/2014/main" id="{EB2D60C3-768E-DE42-A297-2958F878D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589" y="2414411"/>
            <a:ext cx="36830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449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2038-8FEE-9C4C-8B02-E04478E52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GitHub-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FB977-5A29-4B48-AA18-75286CC80D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Part of learning is figuring out *exactly* what exists </a:t>
            </a:r>
          </a:p>
          <a:p>
            <a:r>
              <a:rPr lang="en-US" dirty="0"/>
              <a:t>For this activity, we’ll examine </a:t>
            </a:r>
            <a:r>
              <a:rPr lang="en-US" dirty="0" err="1"/>
              <a:t>github</a:t>
            </a:r>
            <a:r>
              <a:rPr lang="en-US" dirty="0"/>
              <a:t> pages</a:t>
            </a:r>
          </a:p>
          <a:p>
            <a:pPr lvl="1"/>
            <a:r>
              <a:rPr lang="en-US" dirty="0">
                <a:hlinkClick r:id="rId2"/>
              </a:rPr>
              <a:t>https://github.com/weeeBox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https://github.com/djnavarro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https://github.com/neuropsychology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https://github.com/mdsteiner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D39AE-0491-824A-8226-21C714C2C6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What do you notice about these </a:t>
            </a:r>
            <a:r>
              <a:rPr lang="en-US" dirty="0" err="1"/>
              <a:t>github</a:t>
            </a:r>
            <a:r>
              <a:rPr lang="en-US" dirty="0"/>
              <a:t> pages? </a:t>
            </a:r>
          </a:p>
          <a:p>
            <a:pPr lvl="1"/>
            <a:r>
              <a:rPr lang="en-US" dirty="0"/>
              <a:t>What elements of Open Science are apparent?</a:t>
            </a:r>
          </a:p>
          <a:p>
            <a:pPr lvl="1"/>
            <a:r>
              <a:rPr lang="en-US" dirty="0"/>
              <a:t>How does this increase collaboration? </a:t>
            </a:r>
          </a:p>
          <a:p>
            <a:pPr lvl="1"/>
            <a:r>
              <a:rPr lang="en-US" dirty="0"/>
              <a:t>What questions do you have? </a:t>
            </a:r>
          </a:p>
        </p:txBody>
      </p:sp>
    </p:spTree>
    <p:extLst>
      <p:ext uri="{BB962C8B-B14F-4D97-AF65-F5344CB8AC3E}">
        <p14:creationId xmlns:p14="http://schemas.microsoft.com/office/powerpoint/2010/main" val="1598707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B0A8-F96C-9D42-A749-2C5B14B27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AC24A-5E7D-B449-B4FD-BB0A90EB4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the end of this class, students should be able to: </a:t>
            </a:r>
          </a:p>
          <a:p>
            <a:pPr lvl="2"/>
            <a:r>
              <a:rPr lang="en-US" dirty="0"/>
              <a:t>Explain what </a:t>
            </a:r>
            <a:r>
              <a:rPr lang="en-US" dirty="0" err="1"/>
              <a:t>Github</a:t>
            </a:r>
            <a:r>
              <a:rPr lang="en-US" dirty="0"/>
              <a:t> is and how it relates to open science</a:t>
            </a:r>
          </a:p>
          <a:p>
            <a:pPr lvl="2"/>
            <a:r>
              <a:rPr lang="en-US" dirty="0"/>
              <a:t>Identify common actions in </a:t>
            </a:r>
            <a:r>
              <a:rPr lang="en-US" dirty="0" err="1"/>
              <a:t>Github</a:t>
            </a:r>
            <a:r>
              <a:rPr lang="en-US" dirty="0"/>
              <a:t> and explain what they mean</a:t>
            </a:r>
          </a:p>
          <a:p>
            <a:pPr lvl="2"/>
            <a:r>
              <a:rPr lang="en-US" dirty="0"/>
              <a:t>Articulate how </a:t>
            </a:r>
            <a:r>
              <a:rPr lang="en-US" dirty="0" err="1"/>
              <a:t>Github</a:t>
            </a:r>
            <a:r>
              <a:rPr lang="en-US" dirty="0"/>
              <a:t> can be integrated with R/R Studio </a:t>
            </a:r>
          </a:p>
          <a:p>
            <a:pPr lvl="2"/>
            <a:r>
              <a:rPr lang="en-US" dirty="0"/>
              <a:t>Apply these concepts to work on </a:t>
            </a:r>
            <a:r>
              <a:rPr lang="en-US" dirty="0" err="1"/>
              <a:t>Github</a:t>
            </a:r>
            <a:r>
              <a:rPr lang="en-US" dirty="0"/>
              <a:t> files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78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7CD63-468C-164C-9A63-A2F18E57E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56" y="0"/>
            <a:ext cx="10134600" cy="1288489"/>
          </a:xfrm>
        </p:spPr>
        <p:txBody>
          <a:bodyPr/>
          <a:lstStyle/>
          <a:p>
            <a:r>
              <a:rPr lang="en-US" dirty="0"/>
              <a:t>Git versus </a:t>
            </a:r>
            <a:r>
              <a:rPr lang="en-US" dirty="0" err="1"/>
              <a:t>Github</a:t>
            </a:r>
            <a:endParaRPr lang="en-US" dirty="0"/>
          </a:p>
        </p:txBody>
      </p:sp>
      <p:pic>
        <p:nvPicPr>
          <p:cNvPr id="4098" name="Picture 2" descr="Git vs. GitHub: What&amp;#39;s the Difference?">
            <a:extLst>
              <a:ext uri="{FF2B5EF4-FFF2-40B4-BE49-F238E27FC236}">
                <a16:creationId xmlns:a16="http://schemas.microsoft.com/office/drawing/2014/main" id="{7681CE55-4119-0046-9AFD-251EB6343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580" y="1529885"/>
            <a:ext cx="7620000" cy="519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398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C7DE-94B0-BD42-AA38-4214E849E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GitHub Actions (</a:t>
            </a:r>
            <a:r>
              <a:rPr lang="en-US" dirty="0" err="1"/>
              <a:t>Vourre</a:t>
            </a:r>
            <a:r>
              <a:rPr lang="en-US" dirty="0"/>
              <a:t> &amp; Curley, 2018)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09311-B8F0-2741-8D6E-78CC0D983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Git repository: </a:t>
            </a:r>
            <a:r>
              <a:rPr lang="en-US" dirty="0"/>
              <a:t>contents tracked by Git. Changes in this folder can be saved to Git’s history. Located on users’ computers (local repositories)</a:t>
            </a:r>
          </a:p>
          <a:p>
            <a:pPr marL="0" indent="0">
              <a:buNone/>
            </a:pPr>
            <a:r>
              <a:rPr lang="en-US" b="1" dirty="0"/>
              <a:t>GitHub repository: </a:t>
            </a:r>
            <a:r>
              <a:rPr lang="en-US" dirty="0"/>
              <a:t>a repository hosted on GitHub. Can be set receive changes from local repositories (remote or central repository)</a:t>
            </a:r>
          </a:p>
          <a:p>
            <a:pPr marL="0" indent="0">
              <a:buNone/>
            </a:pPr>
            <a:r>
              <a:rPr lang="en-US" b="1" dirty="0"/>
              <a:t>Initialize a local repository:</a:t>
            </a:r>
            <a:r>
              <a:rPr lang="en-US" dirty="0"/>
              <a:t> creates a local Git repository on a computer</a:t>
            </a:r>
          </a:p>
          <a:p>
            <a:pPr marL="0" indent="0">
              <a:buNone/>
            </a:pPr>
            <a:r>
              <a:rPr lang="en-US" b="1" dirty="0"/>
              <a:t>Clone a remote repository: </a:t>
            </a:r>
            <a:r>
              <a:rPr lang="en-US" dirty="0"/>
              <a:t>creates a local Git repository by copying a remote repository (e.g., one hosted on GitHub).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329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EB7E7-6F93-7147-B990-44C6CA12D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GitHub Actions #2 (</a:t>
            </a:r>
            <a:r>
              <a:rPr lang="en-US" dirty="0" err="1"/>
              <a:t>Vourre</a:t>
            </a:r>
            <a:r>
              <a:rPr lang="en-US" dirty="0"/>
              <a:t> &amp; Curley, 2018)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7A4AF-8DF9-0340-B556-446F7225F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Commit changes: </a:t>
            </a:r>
            <a:r>
              <a:rPr lang="en-US" dirty="0"/>
              <a:t>creates a snapshot of the project’s current state by saving changes to Git’s history. </a:t>
            </a:r>
          </a:p>
          <a:p>
            <a:pPr marL="274320" lvl="2" indent="0">
              <a:buNone/>
            </a:pPr>
            <a:r>
              <a:rPr lang="en-US" dirty="0"/>
              <a:t>A commit can include a short message describing the commit’s purpose.</a:t>
            </a:r>
          </a:p>
          <a:p>
            <a:pPr marL="45720" lvl="1" indent="0">
              <a:buNone/>
            </a:pPr>
            <a:r>
              <a:rPr lang="en-US" b="1" dirty="0"/>
              <a:t>Git history: </a:t>
            </a:r>
            <a:r>
              <a:rPr lang="en-US" dirty="0"/>
              <a:t>a list of all the commits made in the repository.</a:t>
            </a:r>
            <a:br>
              <a:rPr lang="en-US" dirty="0"/>
            </a:br>
            <a:r>
              <a:rPr lang="en-US" b="1" dirty="0"/>
              <a:t>Checkout: </a:t>
            </a:r>
            <a:r>
              <a:rPr lang="en-US" dirty="0"/>
              <a:t>switch to an earlier version of the project</a:t>
            </a:r>
            <a:br>
              <a:rPr lang="en-US" dirty="0"/>
            </a:br>
            <a:r>
              <a:rPr lang="en-US" b="1" dirty="0"/>
              <a:t>Push committed changes: </a:t>
            </a:r>
            <a:r>
              <a:rPr lang="en-US" dirty="0"/>
              <a:t>sends changes made on a user’s local repository to the central (remote) repository.</a:t>
            </a:r>
            <a:br>
              <a:rPr lang="en-US" dirty="0"/>
            </a:br>
            <a:r>
              <a:rPr lang="en-US" b="1" dirty="0"/>
              <a:t>Pull changes: </a:t>
            </a:r>
            <a:r>
              <a:rPr lang="en-US" dirty="0"/>
              <a:t>brings changes from the central (remote) repository to a user’s local repository, to keep it up-to-date with other collaborators’ changes.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046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A386C-94F5-C14A-9D64-16909602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we feeling?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DFDC3-CBC6-1242-B696-B65B78F0A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153335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AnalogousFromRegularSeedRightStep">
      <a:dk1>
        <a:srgbClr val="000000"/>
      </a:dk1>
      <a:lt1>
        <a:srgbClr val="FFFFFF"/>
      </a:lt1>
      <a:dk2>
        <a:srgbClr val="1C2431"/>
      </a:dk2>
      <a:lt2>
        <a:srgbClr val="F3F0F0"/>
      </a:lt2>
      <a:accent1>
        <a:srgbClr val="22B1BE"/>
      </a:accent1>
      <a:accent2>
        <a:srgbClr val="1776D5"/>
      </a:accent2>
      <a:accent3>
        <a:srgbClr val="2939E7"/>
      </a:accent3>
      <a:accent4>
        <a:srgbClr val="5F23D7"/>
      </a:accent4>
      <a:accent5>
        <a:srgbClr val="B729E7"/>
      </a:accent5>
      <a:accent6>
        <a:srgbClr val="D517B5"/>
      </a:accent6>
      <a:hlink>
        <a:srgbClr val="BF4A3F"/>
      </a:hlink>
      <a:folHlink>
        <a:srgbClr val="7F7F7F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3035</TotalTime>
  <Words>724</Words>
  <Application>Microsoft Macintosh PowerPoint</Application>
  <PresentationFormat>Widescreen</PresentationFormat>
  <Paragraphs>101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Arial</vt:lpstr>
      <vt:lpstr>Bembo</vt:lpstr>
      <vt:lpstr>AdornVTI</vt:lpstr>
      <vt:lpstr>Final Project Discussion</vt:lpstr>
      <vt:lpstr>Intro to Open Science</vt:lpstr>
      <vt:lpstr>What is Open Science?</vt:lpstr>
      <vt:lpstr>Why Open Science? </vt:lpstr>
      <vt:lpstr>What Leads to questionable Research Practices? </vt:lpstr>
      <vt:lpstr>What are questionable research practices? #2 </vt:lpstr>
      <vt:lpstr>What Are Questionable Research Practices? #3 </vt:lpstr>
      <vt:lpstr>What Are Questionable Research Practices? #4 </vt:lpstr>
      <vt:lpstr>Factors Related to Open Science</vt:lpstr>
      <vt:lpstr>Components of Open Science</vt:lpstr>
      <vt:lpstr>Components of Open Science #2</vt:lpstr>
      <vt:lpstr>Components of Open Science #3</vt:lpstr>
      <vt:lpstr>Introduction to GitHub</vt:lpstr>
      <vt:lpstr>Learning Outcomes #2</vt:lpstr>
      <vt:lpstr>What is GitHub?</vt:lpstr>
      <vt:lpstr>What is GitHub? #2</vt:lpstr>
      <vt:lpstr>Why GitHub?</vt:lpstr>
      <vt:lpstr>GitHub- Activity</vt:lpstr>
      <vt:lpstr>Learning Outcomes</vt:lpstr>
      <vt:lpstr>Git versus Github</vt:lpstr>
      <vt:lpstr>Common GitHub Actions (Vourre &amp; Curley, 2018)</vt:lpstr>
      <vt:lpstr>Common GitHub Actions #2 (Vourre &amp; Curley, 2018)</vt:lpstr>
      <vt:lpstr>How are we feeling?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amwoodward13@gmail.com</dc:creator>
  <cp:lastModifiedBy>Amanda Woodward</cp:lastModifiedBy>
  <cp:revision>35</cp:revision>
  <dcterms:created xsi:type="dcterms:W3CDTF">2021-09-13T00:56:35Z</dcterms:created>
  <dcterms:modified xsi:type="dcterms:W3CDTF">2026-09-10T14:17:14Z</dcterms:modified>
</cp:coreProperties>
</file>